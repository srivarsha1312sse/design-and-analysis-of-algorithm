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73" r:id="rId7"/>
    <p:sldId id="266" r:id="rId8"/>
    <p:sldId id="267" r:id="rId9"/>
    <p:sldId id="268" r:id="rId10"/>
    <p:sldId id="269" r:id="rId11"/>
    <p:sldId id="274" r:id="rId12"/>
    <p:sldId id="275" r:id="rId13"/>
    <p:sldId id="276" r:id="rId14"/>
    <p:sldId id="270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A6BC-4A1B-412D-8572-D189060A7F4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53E56-44CB-4EF7-B9B9-830BB8C52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506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A6BC-4A1B-412D-8572-D189060A7F4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53E56-44CB-4EF7-B9B9-830BB8C52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079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A6BC-4A1B-412D-8572-D189060A7F4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53E56-44CB-4EF7-B9B9-830BB8C52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240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A6BC-4A1B-412D-8572-D189060A7F4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53E56-44CB-4EF7-B9B9-830BB8C52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457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A6BC-4A1B-412D-8572-D189060A7F4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53E56-44CB-4EF7-B9B9-830BB8C52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761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A6BC-4A1B-412D-8572-D189060A7F4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53E56-44CB-4EF7-B9B9-830BB8C52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97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A6BC-4A1B-412D-8572-D189060A7F4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53E56-44CB-4EF7-B9B9-830BB8C52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783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A6BC-4A1B-412D-8572-D189060A7F4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53E56-44CB-4EF7-B9B9-830BB8C52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05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A6BC-4A1B-412D-8572-D189060A7F4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53E56-44CB-4EF7-B9B9-830BB8C52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143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A6BC-4A1B-412D-8572-D189060A7F4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53E56-44CB-4EF7-B9B9-830BB8C52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155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A6BC-4A1B-412D-8572-D189060A7F4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53E56-44CB-4EF7-B9B9-830BB8C52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314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6bc379c7b1_10_63"/>
          <p:cNvSpPr txBox="1">
            <a:spLocks noGrp="1"/>
          </p:cNvSpPr>
          <p:nvPr>
            <p:ph type="body" idx="1"/>
          </p:nvPr>
        </p:nvSpPr>
        <p:spPr>
          <a:xfrm>
            <a:off x="600670" y="5929931"/>
            <a:ext cx="10985551" cy="318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228594" lvl="0" indent="-11429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1800" b="1"/>
            </a:lvl1pPr>
            <a:lvl2pPr marL="457189" lvl="1" indent="-184590" algn="l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685783" lvl="2" indent="-184590" algn="l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914377" lvl="3" indent="-184590" algn="l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1142971" lvl="4" indent="-184590" algn="l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1371566" lvl="5" indent="-184590" algn="l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1600160" lvl="6" indent="-184590" algn="l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1828754" lvl="7" indent="-184590" algn="l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2057349" lvl="8" indent="-184590" algn="l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g36bc379c7b1_10_63"/>
          <p:cNvSpPr txBox="1">
            <a:spLocks noGrp="1"/>
          </p:cNvSpPr>
          <p:nvPr>
            <p:ph type="title"/>
          </p:nvPr>
        </p:nvSpPr>
        <p:spPr>
          <a:xfrm>
            <a:off x="603248" y="1287497"/>
            <a:ext cx="10985551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5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36bc379c7b1_10_63"/>
          <p:cNvSpPr txBox="1">
            <a:spLocks noGrp="1"/>
          </p:cNvSpPr>
          <p:nvPr>
            <p:ph type="body" idx="2"/>
          </p:nvPr>
        </p:nvSpPr>
        <p:spPr>
          <a:xfrm>
            <a:off x="600671" y="3611595"/>
            <a:ext cx="10985551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228594" lvl="0" indent="-11429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1" b="1"/>
            </a:lvl1pPr>
            <a:lvl2pPr marL="457189" lvl="1" indent="-11429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1" b="1"/>
            </a:lvl2pPr>
            <a:lvl3pPr marL="685783" lvl="2" indent="-11429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1" b="1"/>
            </a:lvl3pPr>
            <a:lvl4pPr marL="914377" lvl="3" indent="-11429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1" b="1"/>
            </a:lvl4pPr>
            <a:lvl5pPr marL="1142971" lvl="4" indent="-11429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1" b="1"/>
            </a:lvl5pPr>
            <a:lvl6pPr marL="1371566" lvl="5" indent="-184590" algn="l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1600160" lvl="6" indent="-184590" algn="l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1828754" lvl="7" indent="-184590" algn="l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2057349" lvl="8" indent="-184590" algn="l">
              <a:lnSpc>
                <a:spcPct val="90000"/>
              </a:lnSpc>
              <a:spcBef>
                <a:spcPts val="2251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pic>
        <p:nvPicPr>
          <p:cNvPr id="15" name="Google Shape;15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t="388" r="85449" b="9056"/>
          <a:stretch/>
        </p:blipFill>
        <p:spPr>
          <a:xfrm>
            <a:off x="76861" y="-21950"/>
            <a:ext cx="998291" cy="1118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l="50059" r="34355" b="9675"/>
          <a:stretch/>
        </p:blipFill>
        <p:spPr>
          <a:xfrm>
            <a:off x="11095093" y="106935"/>
            <a:ext cx="824848" cy="86032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6bc379c7b1_10_63"/>
          <p:cNvSpPr txBox="1">
            <a:spLocks noGrp="1"/>
          </p:cNvSpPr>
          <p:nvPr>
            <p:ph type="sldNum" idx="12"/>
          </p:nvPr>
        </p:nvSpPr>
        <p:spPr>
          <a:xfrm>
            <a:off x="6000749" y="6212309"/>
            <a:ext cx="184200" cy="518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04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1A6BC-4A1B-412D-8572-D189060A7F4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53E56-44CB-4EF7-B9B9-830BB8C52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443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3870" y="682525"/>
            <a:ext cx="9144000" cy="2387600"/>
          </a:xfrm>
        </p:spPr>
        <p:txBody>
          <a:bodyPr>
            <a:normAutofit/>
          </a:bodyPr>
          <a:lstStyle/>
          <a:p>
            <a:r>
              <a:rPr lang="en-GB" sz="48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Smart E-commerce Recommendation Optimizer</a:t>
            </a:r>
            <a:endParaRPr lang="en-IN" sz="4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3726" y="3529204"/>
            <a:ext cx="7844287" cy="165576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dirty="0" smtClean="0">
                <a:latin typeface="Britannic Bold" panose="020B0903060703020204" pitchFamily="34" charset="0"/>
              </a:rPr>
              <a:t>CSA0624 – Design and Analysis of Algorithm</a:t>
            </a:r>
            <a:endParaRPr lang="en-IN" dirty="0">
              <a:latin typeface="Britannic Bold" panose="020B0903060703020204" pitchFamily="34" charset="0"/>
            </a:endParaRPr>
          </a:p>
          <a:p>
            <a:pPr>
              <a:lnSpc>
                <a:spcPct val="100000"/>
              </a:lnSpc>
            </a:pPr>
            <a:endParaRPr lang="en-GB" dirty="0" smtClean="0">
              <a:latin typeface="Britannic Bold" panose="020B090306070302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GB" sz="1600" dirty="0" smtClean="0">
                <a:latin typeface="Britannic Bold" panose="020B0903060703020204" pitchFamily="34" charset="0"/>
              </a:rPr>
              <a:t>Guided by:                                                                   Presented by:</a:t>
            </a:r>
          </a:p>
          <a:p>
            <a:pPr algn="l">
              <a:lnSpc>
                <a:spcPct val="100000"/>
              </a:lnSpc>
            </a:pPr>
            <a:r>
              <a:rPr lang="en-GB" sz="1600" dirty="0" err="1" smtClean="0">
                <a:latin typeface="Britannic Bold" panose="020B0903060703020204" pitchFamily="34" charset="0"/>
              </a:rPr>
              <a:t>Gnanajeyaraman</a:t>
            </a:r>
            <a:r>
              <a:rPr lang="en-GB" sz="1600" dirty="0" smtClean="0">
                <a:latin typeface="Britannic Bold" panose="020B0903060703020204" pitchFamily="34" charset="0"/>
              </a:rPr>
              <a:t>                                                         </a:t>
            </a:r>
            <a:r>
              <a:rPr lang="en-GB" sz="1600" dirty="0" err="1" smtClean="0">
                <a:latin typeface="Britannic Bold" panose="020B0903060703020204" pitchFamily="34" charset="0"/>
              </a:rPr>
              <a:t>Kiruthika</a:t>
            </a:r>
            <a:r>
              <a:rPr lang="en-GB" sz="1600" dirty="0" smtClean="0">
                <a:latin typeface="Britannic Bold" panose="020B0903060703020204" pitchFamily="34" charset="0"/>
              </a:rPr>
              <a:t> M(192421239)</a:t>
            </a:r>
          </a:p>
          <a:p>
            <a:pPr algn="l">
              <a:lnSpc>
                <a:spcPct val="100000"/>
              </a:lnSpc>
            </a:pPr>
            <a:r>
              <a:rPr lang="en-GB" sz="1600" dirty="0">
                <a:latin typeface="Britannic Bold" panose="020B0903060703020204" pitchFamily="34" charset="0"/>
              </a:rPr>
              <a:t> </a:t>
            </a:r>
            <a:r>
              <a:rPr lang="en-GB" sz="1600" dirty="0" smtClean="0">
                <a:latin typeface="Britannic Bold" panose="020B0903060703020204" pitchFamily="34" charset="0"/>
              </a:rPr>
              <a:t>                                                                                 </a:t>
            </a:r>
            <a:r>
              <a:rPr lang="en-GB" sz="1600" dirty="0" err="1" smtClean="0">
                <a:latin typeface="Britannic Bold" panose="020B0903060703020204" pitchFamily="34" charset="0"/>
              </a:rPr>
              <a:t>Amudhavalli</a:t>
            </a:r>
            <a:r>
              <a:rPr lang="en-GB" sz="1600" dirty="0" smtClean="0">
                <a:latin typeface="Britannic Bold" panose="020B0903060703020204" pitchFamily="34" charset="0"/>
              </a:rPr>
              <a:t> B(192421008)</a:t>
            </a:r>
          </a:p>
          <a:p>
            <a:pPr algn="l">
              <a:lnSpc>
                <a:spcPct val="100000"/>
              </a:lnSpc>
            </a:pPr>
            <a:r>
              <a:rPr lang="en-GB" sz="1600" dirty="0">
                <a:latin typeface="Britannic Bold" panose="020B0903060703020204" pitchFamily="34" charset="0"/>
              </a:rPr>
              <a:t> </a:t>
            </a:r>
            <a:r>
              <a:rPr lang="en-GB" sz="1600" dirty="0" smtClean="0">
                <a:latin typeface="Britannic Bold" panose="020B0903060703020204" pitchFamily="34" charset="0"/>
              </a:rPr>
              <a:t>                                                                                 </a:t>
            </a:r>
            <a:r>
              <a:rPr lang="en-GB" sz="1600" dirty="0" err="1" smtClean="0">
                <a:latin typeface="Britannic Bold" panose="020B0903060703020204" pitchFamily="34" charset="0"/>
              </a:rPr>
              <a:t>Srivarsha</a:t>
            </a:r>
            <a:r>
              <a:rPr lang="en-GB" sz="1600" dirty="0" smtClean="0">
                <a:latin typeface="Britannic Bold" panose="020B0903060703020204" pitchFamily="34" charset="0"/>
              </a:rPr>
              <a:t> M(192371010)                                                        </a:t>
            </a:r>
            <a:endParaRPr lang="en-IN" sz="1600" dirty="0">
              <a:latin typeface="Britannic Bold" panose="020B0903060703020204" pitchFamily="34" charset="0"/>
            </a:endParaRPr>
          </a:p>
        </p:txBody>
      </p:sp>
      <p:pic>
        <p:nvPicPr>
          <p:cNvPr id="1026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8" y="63321"/>
            <a:ext cx="1561082" cy="156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MATS Engineering, Chennai : Campus Karm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32" y="0"/>
            <a:ext cx="1708030" cy="170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4222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08185" y="1690688"/>
            <a:ext cx="968326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 provide thousands of products, making it difficult for customers to find the most relevant items.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recommendation system helps customers discover products based on their interests and previous interactions.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E-Commerce Recommendation Optimizer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analyzes customer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browsing history, purchases, ratings, and product interactions.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personalized product recommendations and ranks them according to relevance.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aims to improve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accuracy, customer experience, and product discovery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5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8" y="63321"/>
            <a:ext cx="1561082" cy="156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SIMATS Engineering, Chennai : Campus Karm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32" y="11575"/>
            <a:ext cx="1708030" cy="170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285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e-commerce systems often display products using generic popularity, category, or static sorting methods.</a:t>
            </a:r>
          </a:p>
          <a:p>
            <a:r>
              <a:rPr lang="en-GB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receive irrelevant product recommendations. 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Large product </a:t>
            </a:r>
            <a:r>
              <a:rPr lang="en-GB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catalogs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make product discovery difficult. 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preferences change over time. 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 recommendation methods may not consider multiple behavioural factors. 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with high relevance may not appear at the top. 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Poor personalization can reduce customer satisfaction and engagement.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8" y="63321"/>
            <a:ext cx="1561082" cy="156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IMATS Engineering, Chennai : Campus Karm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32" y="0"/>
            <a:ext cx="1708030" cy="170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212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9217"/>
            <a:ext cx="10515600" cy="1325563"/>
          </a:xfrm>
        </p:spPr>
        <p:txBody>
          <a:bodyPr/>
          <a:lstStyle/>
          <a:p>
            <a:pPr algn="ctr"/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833623" y="1641187"/>
            <a:ext cx="8290475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customer browsing and purchasing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customer preferences and interests.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personalized product recommendations.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Rank recommended products according to relevance.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irrelevant recommendations.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product discovery and customer satisfaction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5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8" y="63321"/>
            <a:ext cx="1561082" cy="156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SIMATS Engineering, Chennai : Campus Karm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32" y="0"/>
            <a:ext cx="1708030" cy="170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546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vs PROPOSED SYSTEM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794841"/>
              </p:ext>
            </p:extLst>
          </p:nvPr>
        </p:nvGraphicFramePr>
        <p:xfrm>
          <a:off x="838200" y="1825623"/>
          <a:ext cx="10515600" cy="4370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9099486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19950217"/>
                    </a:ext>
                  </a:extLst>
                </a:gridCol>
              </a:tblGrid>
              <a:tr h="545854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Existing System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Proposed System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77792"/>
                  </a:ext>
                </a:extLst>
              </a:tr>
              <a:tr h="545854">
                <a:tc>
                  <a:txBody>
                    <a:bodyPr/>
                    <a:lstStyle/>
                    <a:p>
                      <a:r>
                        <a:rPr lang="en-IN" dirty="0" smtClean="0"/>
                        <a:t>Generic product suggestions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Personalized recommendations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736469"/>
                  </a:ext>
                </a:extLst>
              </a:tr>
              <a:tr h="545854">
                <a:tc>
                  <a:txBody>
                    <a:bodyPr/>
                    <a:lstStyle/>
                    <a:p>
                      <a:r>
                        <a:rPr lang="en-IN" dirty="0" smtClean="0"/>
                        <a:t>Mainly popularity-based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mtClean="0"/>
                        <a:t>Behaviour-based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658259"/>
                  </a:ext>
                </a:extLst>
              </a:tr>
              <a:tr h="545854">
                <a:tc>
                  <a:txBody>
                    <a:bodyPr/>
                    <a:lstStyle/>
                    <a:p>
                      <a:r>
                        <a:rPr lang="en-IN" dirty="0" smtClean="0"/>
                        <a:t>Limited user preference analysis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Detailed customer behaviour analysis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031812"/>
                  </a:ext>
                </a:extLst>
              </a:tr>
              <a:tr h="545854">
                <a:tc>
                  <a:txBody>
                    <a:bodyPr/>
                    <a:lstStyle/>
                    <a:p>
                      <a:r>
                        <a:rPr lang="en-IN" dirty="0" smtClean="0"/>
                        <a:t>May recommend irrelevant products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Filters and ranks relevant products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188571"/>
                  </a:ext>
                </a:extLst>
              </a:tr>
              <a:tr h="549542">
                <a:tc>
                  <a:txBody>
                    <a:bodyPr/>
                    <a:lstStyle/>
                    <a:p>
                      <a:r>
                        <a:rPr lang="en-IN" smtClean="0"/>
                        <a:t>Static product ordering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mtClean="0"/>
                        <a:t>Dynamic product ranking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867847"/>
                  </a:ext>
                </a:extLst>
              </a:tr>
              <a:tr h="545854">
                <a:tc>
                  <a:txBody>
                    <a:bodyPr/>
                    <a:lstStyle/>
                    <a:p>
                      <a:r>
                        <a:rPr lang="en-IN" dirty="0" smtClean="0"/>
                        <a:t>Limited behavioural factors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Browsing, purchase, ratings and interaction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070788"/>
                  </a:ext>
                </a:extLst>
              </a:tr>
              <a:tr h="545854">
                <a:tc>
                  <a:txBody>
                    <a:bodyPr/>
                    <a:lstStyle/>
                    <a:p>
                      <a:r>
                        <a:rPr lang="en-IN" dirty="0" smtClean="0"/>
                        <a:t>Basic recommendation techniques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Optimized recommendation pipeline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904686"/>
                  </a:ext>
                </a:extLst>
              </a:tr>
            </a:tbl>
          </a:graphicData>
        </a:graphic>
      </p:graphicFrame>
      <p:pic>
        <p:nvPicPr>
          <p:cNvPr id="12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8" y="63321"/>
            <a:ext cx="1507794" cy="156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SIMATS Engineering, Chennai : Campus Karm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7686" y="0"/>
            <a:ext cx="1546376" cy="170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017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190079"/>
              </p:ext>
            </p:extLst>
          </p:nvPr>
        </p:nvGraphicFramePr>
        <p:xfrm>
          <a:off x="423693" y="965199"/>
          <a:ext cx="11463504" cy="5816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584">
                  <a:extLst>
                    <a:ext uri="{9D8B030D-6E8A-4147-A177-3AD203B41FA5}">
                      <a16:colId xmlns:a16="http://schemas.microsoft.com/office/drawing/2014/main" val="1986687212"/>
                    </a:ext>
                  </a:extLst>
                </a:gridCol>
                <a:gridCol w="1910584">
                  <a:extLst>
                    <a:ext uri="{9D8B030D-6E8A-4147-A177-3AD203B41FA5}">
                      <a16:colId xmlns:a16="http://schemas.microsoft.com/office/drawing/2014/main" val="2227421579"/>
                    </a:ext>
                  </a:extLst>
                </a:gridCol>
                <a:gridCol w="1910584">
                  <a:extLst>
                    <a:ext uri="{9D8B030D-6E8A-4147-A177-3AD203B41FA5}">
                      <a16:colId xmlns:a16="http://schemas.microsoft.com/office/drawing/2014/main" val="1509357328"/>
                    </a:ext>
                  </a:extLst>
                </a:gridCol>
                <a:gridCol w="1910584">
                  <a:extLst>
                    <a:ext uri="{9D8B030D-6E8A-4147-A177-3AD203B41FA5}">
                      <a16:colId xmlns:a16="http://schemas.microsoft.com/office/drawing/2014/main" val="1658781062"/>
                    </a:ext>
                  </a:extLst>
                </a:gridCol>
                <a:gridCol w="1910584">
                  <a:extLst>
                    <a:ext uri="{9D8B030D-6E8A-4147-A177-3AD203B41FA5}">
                      <a16:colId xmlns:a16="http://schemas.microsoft.com/office/drawing/2014/main" val="2086142618"/>
                    </a:ext>
                  </a:extLst>
                </a:gridCol>
                <a:gridCol w="1910584">
                  <a:extLst>
                    <a:ext uri="{9D8B030D-6E8A-4147-A177-3AD203B41FA5}">
                      <a16:colId xmlns:a16="http://schemas.microsoft.com/office/drawing/2014/main" val="289404892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lang="en-GB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r>
                        <a:rPr lang="en-GB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The </a:t>
                      </a:r>
                    </a:p>
                    <a:p>
                      <a:r>
                        <a:rPr lang="en-GB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996679024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1.</a:t>
                      </a:r>
                      <a:endParaRPr lang="en-IN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a-DK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Ethan Perez, Sam Goldman, et al.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 smtClean="0"/>
                        <a:t>A Systematic Study on the Recommender Systems in the E-Commerce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Compared Content-Based, Collaborative, Demographic-Based, Hybrid and Knowledge-Based recommendation techniques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Traditional approaches face challenges such as </a:t>
                      </a:r>
                      <a:r>
                        <a:rPr lang="en-GB" sz="1200" b="1" dirty="0" smtClean="0"/>
                        <a:t>data sparsity, cold-start and scalability</a:t>
                      </a:r>
                      <a:r>
                        <a:rPr lang="en-GB" sz="1200" dirty="0" smtClean="0"/>
                        <a:t>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136816308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2.</a:t>
                      </a:r>
                      <a:endParaRPr lang="en-IN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2023</a:t>
                      </a:r>
                      <a:endParaRPr lang="en-IN" sz="12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 smtClean="0"/>
                        <a:t>Kai </a:t>
                      </a:r>
                      <a:r>
                        <a:rPr lang="en-IN" sz="1200" dirty="0" err="1" smtClean="0"/>
                        <a:t>Greshake</a:t>
                      </a:r>
                      <a:r>
                        <a:rPr lang="en-IN" sz="1200" dirty="0" smtClean="0"/>
                        <a:t>, Sahar </a:t>
                      </a:r>
                      <a:r>
                        <a:rPr lang="en-IN" sz="1200" dirty="0" err="1" smtClean="0"/>
                        <a:t>Abdelnabi</a:t>
                      </a:r>
                      <a:r>
                        <a:rPr lang="en-IN" sz="1200" dirty="0" smtClean="0"/>
                        <a:t>, </a:t>
                      </a:r>
                      <a:r>
                        <a:rPr lang="en-IN" sz="1200" dirty="0" err="1" smtClean="0"/>
                        <a:t>Shailesh</a:t>
                      </a:r>
                      <a:r>
                        <a:rPr lang="en-IN" sz="1200" dirty="0" smtClean="0"/>
                        <a:t> Mishra, et al.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 smtClean="0"/>
                        <a:t>Recommendation System Based on Deep Learning Methods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Reviewed deep-learning approaches for recommender systems and showed their potential to improve recommendation quality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Deep-learning systems require large amounts of data and computational resources; </a:t>
                      </a:r>
                      <a:r>
                        <a:rPr lang="en-GB" sz="1200" b="1" dirty="0" smtClean="0"/>
                        <a:t>cold-start and sparse data</a:t>
                      </a:r>
                      <a:r>
                        <a:rPr lang="en-GB" sz="1200" dirty="0" smtClean="0"/>
                        <a:t>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110030908"/>
                  </a:ext>
                </a:extLst>
              </a:tr>
              <a:tr h="106172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3.</a:t>
                      </a:r>
                      <a:endParaRPr lang="en-IN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Alexander Wei, Nika Haghtalab, et al.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 smtClean="0"/>
                        <a:t>Issues and Solutions in Deep Learning-Enabled Recommendation Systems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Demonstrated that deep neural collaborative filtering can provide personalized recommendations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Performance depends heavily on </a:t>
                      </a:r>
                      <a:r>
                        <a:rPr lang="en-GB" sz="1200" b="1" dirty="0" smtClean="0"/>
                        <a:t>data quality and scalability</a:t>
                      </a:r>
                      <a:r>
                        <a:rPr lang="en-GB" sz="1200" dirty="0" smtClean="0"/>
                        <a:t> of the recommendation system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918778727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4.</a:t>
                      </a:r>
                      <a:endParaRPr lang="en-IN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Zou et al.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 smtClean="0"/>
                        <a:t>E-Commerce Personalized Recommendations: A Deep Neural Collaborative Filtering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Examined both </a:t>
                      </a:r>
                      <a:r>
                        <a:rPr lang="en-GB" sz="1200" b="1" dirty="0" smtClean="0"/>
                        <a:t>rating prediction and Top-N ranking</a:t>
                      </a:r>
                      <a:r>
                        <a:rPr lang="en-GB" sz="1200" dirty="0" smtClean="0"/>
                        <a:t>, highlighting deep learning's role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Deep-learning models can be complex, computationally expensive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1786692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5.</a:t>
                      </a:r>
                      <a:endParaRPr lang="en-IN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 smtClean="0"/>
                        <a:t>Emerging Trends of Recommender System for E-Commerce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Identified ML, deep learning, NLP, LLMs and recommendation as emerging approaches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Major remaining issues include </a:t>
                      </a:r>
                      <a:r>
                        <a:rPr lang="en-GB" sz="1200" b="1" dirty="0" smtClean="0"/>
                        <a:t>cold-start, data sparsity, privacy, computational cost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4356332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35120" y="193040"/>
            <a:ext cx="4561840" cy="605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3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333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656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447" y="32802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Customer Behaviour </a:t>
            </a:r>
            <a:r>
              <a:rPr lang="en-GB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Analyzer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199208" cy="4351338"/>
          </a:xfrm>
        </p:spPr>
        <p:txBody>
          <a:bodyPr>
            <a:normAutofit fontScale="325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GB" sz="6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algn="just">
              <a:lnSpc>
                <a:spcPct val="120000"/>
              </a:lnSpc>
            </a:pPr>
            <a:r>
              <a:rPr lang="en-GB" sz="6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customer interests and preferences by </a:t>
            </a:r>
            <a:r>
              <a:rPr lang="en-GB" sz="6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GB" sz="6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their interactions with the e-commerce platform.</a:t>
            </a:r>
          </a:p>
          <a:p>
            <a:pPr algn="just">
              <a:lnSpc>
                <a:spcPct val="120000"/>
              </a:lnSpc>
            </a:pPr>
            <a:r>
              <a:rPr lang="en-GB" sz="6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 such as </a:t>
            </a:r>
            <a:r>
              <a:rPr lang="en-GB" sz="6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Browsing history, Purchase history, Product ratings, Search history, Clicks and product views, </a:t>
            </a:r>
            <a:r>
              <a:rPr lang="en-GB" sz="6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Wishlist</a:t>
            </a:r>
            <a:r>
              <a:rPr lang="en-GB" sz="6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/favourites, Time spent on products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GB" sz="6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just">
              <a:lnSpc>
                <a:spcPct val="120000"/>
              </a:lnSpc>
            </a:pPr>
            <a:r>
              <a:rPr lang="en-GB" sz="6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6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Preference Profile</a:t>
            </a:r>
            <a:r>
              <a:rPr lang="en-GB" sz="6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containing: Preferred categories, Preferred brands, Price range, Frequently viewed products, Frequently purchased products</a:t>
            </a:r>
          </a:p>
          <a:p>
            <a:pPr algn="just"/>
            <a:endParaRPr lang="en-IN" dirty="0"/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8" y="63321"/>
            <a:ext cx="1418238" cy="141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IMATS Engineering, Chennai : Campus Karm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32" y="0"/>
            <a:ext cx="1708030" cy="170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844"/>
          <a:stretch/>
        </p:blipFill>
        <p:spPr>
          <a:xfrm>
            <a:off x="8086900" y="1825625"/>
            <a:ext cx="3830779" cy="486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080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Recommendation Engine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218" y="1825625"/>
            <a:ext cx="6551271" cy="4351338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products that are most relevant to each customer.</a:t>
            </a:r>
          </a:p>
          <a:p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the customer preference profile. 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similar products/customers. 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product similarity. 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list of candidate products. 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Removes already purchased or irrelevant products. 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Sends candidate products to the Product Ranking Module.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8" y="63321"/>
            <a:ext cx="1561082" cy="156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IMATS Engineering, Chennai : Campus Karm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32" y="0"/>
            <a:ext cx="1708030" cy="170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54" r="34015"/>
          <a:stretch/>
        </p:blipFill>
        <p:spPr>
          <a:xfrm>
            <a:off x="7577750" y="1708029"/>
            <a:ext cx="4075769" cy="507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306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Product Ranking Module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43623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arrange recommended products from 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relevant to least relevant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Ranking Factors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Customer-product similarity 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purchase behaviour 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ratings 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Browsing frequency 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preference 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Price preference 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popularity 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Recent interactions</a:t>
            </a:r>
          </a:p>
          <a:p>
            <a:endParaRPr lang="en-IN" dirty="0"/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8" y="63321"/>
            <a:ext cx="1561082" cy="156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IMATS Engineering, Chennai : Campus Karm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32" y="0"/>
            <a:ext cx="1708030" cy="170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79"/>
          <a:stretch/>
        </p:blipFill>
        <p:spPr>
          <a:xfrm>
            <a:off x="7528560" y="1624402"/>
            <a:ext cx="4135120" cy="508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00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213" y="1860349"/>
            <a:ext cx="6442276" cy="4351338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 smtClean="0"/>
              <a:t>Expected/Implemented Results</a:t>
            </a:r>
          </a:p>
          <a:p>
            <a:r>
              <a:rPr lang="en-GB" dirty="0" smtClean="0"/>
              <a:t>The system provides:</a:t>
            </a:r>
          </a:p>
          <a:p>
            <a:r>
              <a:rPr lang="en-GB" dirty="0" smtClean="0"/>
              <a:t>Personalized product recommendations. </a:t>
            </a:r>
          </a:p>
          <a:p>
            <a:r>
              <a:rPr lang="en-GB" dirty="0" smtClean="0"/>
              <a:t>Improved product relevance. </a:t>
            </a:r>
          </a:p>
          <a:p>
            <a:r>
              <a:rPr lang="en-GB" dirty="0" smtClean="0"/>
              <a:t>Dynamic ranking of recommended products. </a:t>
            </a:r>
          </a:p>
          <a:p>
            <a:r>
              <a:rPr lang="en-GB" dirty="0" smtClean="0"/>
              <a:t>Better utilization of customer behaviour data. </a:t>
            </a:r>
          </a:p>
          <a:p>
            <a:r>
              <a:rPr lang="en-GB" dirty="0" smtClean="0"/>
              <a:t>Faster product discovery. </a:t>
            </a:r>
          </a:p>
          <a:p>
            <a:r>
              <a:rPr lang="en-GB" dirty="0" smtClean="0"/>
              <a:t>Reduced irrelevant recommendations. </a:t>
            </a:r>
          </a:p>
          <a:p>
            <a:r>
              <a:rPr lang="en-GB" dirty="0" smtClean="0"/>
              <a:t>Improved customer engagement.</a:t>
            </a:r>
          </a:p>
          <a:p>
            <a:endParaRPr lang="en-IN" dirty="0"/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8" y="63321"/>
            <a:ext cx="1561082" cy="156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IMATS Engineering, Chennai : Campus Karm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32" y="0"/>
            <a:ext cx="1708030" cy="170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659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8" y="63321"/>
            <a:ext cx="1561082" cy="156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IMATS Engineering, Chennai : Campus Karm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32" y="0"/>
            <a:ext cx="1708030" cy="170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"/>
          <a:stretch/>
        </p:blipFill>
        <p:spPr>
          <a:xfrm>
            <a:off x="1082040" y="1690688"/>
            <a:ext cx="10027920" cy="498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976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8" y="63321"/>
            <a:ext cx="1561082" cy="156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IMATS Engineering, Chennai : Campus Karm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32" y="0"/>
            <a:ext cx="1708030" cy="170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880" y="1794126"/>
            <a:ext cx="10048240" cy="484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873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8" y="63321"/>
            <a:ext cx="1561082" cy="156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IMATS Engineering, Chennai : Campus Karm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32" y="0"/>
            <a:ext cx="1708030" cy="170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" y="1708030"/>
            <a:ext cx="10241280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151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Smart E-Commerce Recommendation Optimizer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intelligent approach to personalized product recommendations. The system </a:t>
            </a:r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behaviour, generates relevant product suggestions, and ranks them according to their relevance.</a:t>
            </a:r>
          </a:p>
          <a:p>
            <a:pPr algn="just">
              <a:lnSpc>
                <a:spcPct val="150000"/>
              </a:lnSpc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Behaviour Analysis, Recommendation Engine, and Product Ranking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helps overcome the limitations of generic recommendation systems.</a:t>
            </a:r>
          </a:p>
          <a:p>
            <a:endParaRPr lang="en-IN" dirty="0"/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8" y="63321"/>
            <a:ext cx="1561082" cy="156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IMATS Engineering, Chennai : Campus Karm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32" y="0"/>
            <a:ext cx="1708030" cy="170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370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479" y="2055813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[1] E. Perez, S. Goldman, </a:t>
            </a:r>
            <a:r>
              <a:rPr lang="en-I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., “A systematic study on the recommender systems in the e-commerce,” 2022.</a:t>
            </a: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 K.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Greshake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Abdelnabi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S. Mishra, </a:t>
            </a:r>
            <a:r>
              <a:rPr lang="en-I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., “Recommendation system based on deep learning methods,” 2023.</a:t>
            </a: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A. Wei, N.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Haghtalab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., “Issues and solutions in deep learning-enabled recommendation systems,” 2023.</a:t>
            </a: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 Z. Zou, </a:t>
            </a:r>
            <a:r>
              <a:rPr lang="en-I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., “E-commerce personalized recommendations: A deep neural collaborative filtering approach,” 2023.</a:t>
            </a: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[5] Y. Zhang, </a:t>
            </a:r>
            <a:r>
              <a:rPr lang="en-I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., “Emerging trends of recommender system for e-commerce,” 2024.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8" y="63321"/>
            <a:ext cx="1561082" cy="156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IMATS Engineering, Chennai : Campus Karm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32" y="0"/>
            <a:ext cx="1708030" cy="170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6962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906</Words>
  <Application>Microsoft Office PowerPoint</Application>
  <PresentationFormat>Widescreen</PresentationFormat>
  <Paragraphs>138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Britannic Bold</vt:lpstr>
      <vt:lpstr>Calibri</vt:lpstr>
      <vt:lpstr>Calibri Light</vt:lpstr>
      <vt:lpstr>Helvetica Neue</vt:lpstr>
      <vt:lpstr>Times New Roman</vt:lpstr>
      <vt:lpstr>Office Theme</vt:lpstr>
      <vt:lpstr>Smart E-commerce Recommendation Optimizer</vt:lpstr>
      <vt:lpstr>INTRODUCTION</vt:lpstr>
      <vt:lpstr>PROBLEM STATEMENT</vt:lpstr>
      <vt:lpstr>OBJECTIVE</vt:lpstr>
      <vt:lpstr>EXISTING vs PROPOSED SYSTEM</vt:lpstr>
      <vt:lpstr>PowerPoint Presentation</vt:lpstr>
      <vt:lpstr>Module 1: Customer Behaviour Analyzer</vt:lpstr>
      <vt:lpstr>Module 2: Recommendation Engine</vt:lpstr>
      <vt:lpstr>Module 3: Product Ranking Module</vt:lpstr>
      <vt:lpstr>RESULT &amp; IMPLEMENTATION</vt:lpstr>
      <vt:lpstr>RESULT &amp; IMPLEMENTATION</vt:lpstr>
      <vt:lpstr>RESULT &amp; IMPLEMENTATION</vt:lpstr>
      <vt:lpstr>RESULT &amp; IMPLEMENTATION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E-commerce Recommendation Optimizer</dc:title>
  <dc:creator>Dell</dc:creator>
  <cp:lastModifiedBy>Dell</cp:lastModifiedBy>
  <cp:revision>9</cp:revision>
  <dcterms:created xsi:type="dcterms:W3CDTF">2026-08-29T02:46:26Z</dcterms:created>
  <dcterms:modified xsi:type="dcterms:W3CDTF">2026-08-29T03:49:57Z</dcterms:modified>
</cp:coreProperties>
</file>